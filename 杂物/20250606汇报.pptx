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4" r:id="rId4"/>
    <p:sldId id="276" r:id="rId5"/>
    <p:sldId id="277" r:id="rId6"/>
    <p:sldId id="278" r:id="rId7"/>
    <p:sldId id="279" r:id="rId8"/>
    <p:sldId id="280" r:id="rId9"/>
    <p:sldId id="282" r:id="rId10"/>
    <p:sldId id="281" r:id="rId11"/>
    <p:sldId id="26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3" autoAdjust="0"/>
    <p:restoredTop sz="94694" autoAdjust="0"/>
  </p:normalViewPr>
  <p:slideViewPr>
    <p:cSldViewPr snapToGrid="0">
      <p:cViewPr varScale="1">
        <p:scale>
          <a:sx n="65" d="100"/>
          <a:sy n="65" d="100"/>
        </p:scale>
        <p:origin x="1344" y="11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44433-9894-4477-9B1E-61BBF47033A1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5BC43-7485-4F6C-86B9-BF93B86F3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15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_right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11"/>
          <a:stretch/>
        </p:blipFill>
        <p:spPr>
          <a:xfrm>
            <a:off x="8128000" y="-2621"/>
            <a:ext cx="4064000" cy="6858000"/>
          </a:xfrm>
          <a:prstGeom prst="rect">
            <a:avLst/>
          </a:prstGeom>
        </p:spPr>
      </p:pic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bg_main_theme"/>
          <p:cNvSpPr/>
          <p:nvPr userDrawn="1"/>
        </p:nvSpPr>
        <p:spPr>
          <a:xfrm>
            <a:off x="312912" y="0"/>
            <a:ext cx="85974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attern"/>
          <p:cNvSpPr/>
          <p:nvPr userDrawn="1"/>
        </p:nvSpPr>
        <p:spPr>
          <a:xfrm>
            <a:off x="312912" y="2951480"/>
            <a:ext cx="8597407" cy="3903899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 l="-16369" t="-11784" r="-7157" b="-99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main_board"/>
          <p:cNvGrpSpPr/>
          <p:nvPr userDrawn="1"/>
        </p:nvGrpSpPr>
        <p:grpSpPr>
          <a:xfrm>
            <a:off x="726440" y="1400452"/>
            <a:ext cx="8600440" cy="2709268"/>
            <a:chOff x="685800" y="1400452"/>
            <a:chExt cx="8600440" cy="2709268"/>
          </a:xfrm>
          <a:effectLst>
            <a:outerShdw blurRad="203200" dist="38100" dir="2700000" algn="tl" rotWithShape="0">
              <a:prstClr val="black">
                <a:alpha val="19000"/>
              </a:prstClr>
            </a:outerShdw>
          </a:effectLst>
        </p:grpSpPr>
        <p:sp>
          <p:nvSpPr>
            <p:cNvPr id="14" name="矩形 13"/>
            <p:cNvSpPr/>
            <p:nvPr userDrawn="1"/>
          </p:nvSpPr>
          <p:spPr>
            <a:xfrm>
              <a:off x="685800" y="1400452"/>
              <a:ext cx="8600440" cy="2595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685800" y="1513840"/>
              <a:ext cx="8600440" cy="2595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6089" y="2004459"/>
            <a:ext cx="7934411" cy="833633"/>
          </a:xfrm>
        </p:spPr>
        <p:txBody>
          <a:bodyPr anchor="ctr">
            <a:noAutofit/>
          </a:bodyPr>
          <a:lstStyle>
            <a:lvl1pPr algn="l">
              <a:defRPr sz="6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6089" y="2838092"/>
            <a:ext cx="7934411" cy="49061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单击以编辑副标题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722384" y="2004459"/>
            <a:ext cx="233680" cy="7438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jwc_logo"/>
          <p:cNvGrpSpPr/>
          <p:nvPr userDrawn="1"/>
        </p:nvGrpSpPr>
        <p:grpSpPr>
          <a:xfrm>
            <a:off x="1146090" y="6242962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18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41"/>
            <p:cNvSpPr>
              <a:spLocks/>
            </p:cNvSpPr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42"/>
            <p:cNvSpPr>
              <a:spLocks/>
            </p:cNvSpPr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43"/>
            <p:cNvSpPr>
              <a:spLocks/>
            </p:cNvSpPr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8350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bg_right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805" r="22916"/>
          <a:stretch/>
        </p:blipFill>
        <p:spPr>
          <a:xfrm>
            <a:off x="8128000" y="-2621"/>
            <a:ext cx="4064000" cy="6858000"/>
          </a:xfrm>
          <a:prstGeom prst="rect">
            <a:avLst/>
          </a:prstGeom>
        </p:spPr>
      </p:pic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abg_main_theme"/>
          <p:cNvSpPr/>
          <p:nvPr userDrawn="1"/>
        </p:nvSpPr>
        <p:spPr>
          <a:xfrm>
            <a:off x="312912" y="0"/>
            <a:ext cx="95433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attern"/>
          <p:cNvSpPr/>
          <p:nvPr userDrawn="1"/>
        </p:nvSpPr>
        <p:spPr>
          <a:xfrm>
            <a:off x="312912" y="2951480"/>
            <a:ext cx="9540000" cy="3903899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 l="-10944" t="-11784" r="-378" b="-99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main_board"/>
          <p:cNvGrpSpPr/>
          <p:nvPr userDrawn="1"/>
        </p:nvGrpSpPr>
        <p:grpSpPr>
          <a:xfrm>
            <a:off x="726439" y="825500"/>
            <a:ext cx="9539301" cy="4781549"/>
            <a:chOff x="685800" y="1400452"/>
            <a:chExt cx="8600440" cy="2709268"/>
          </a:xfrm>
          <a:effectLst>
            <a:outerShdw blurRad="203200" dist="38100" dir="2700000" algn="tl" rotWithShape="0">
              <a:prstClr val="black">
                <a:alpha val="19000"/>
              </a:prstClr>
            </a:outerShdw>
          </a:effectLst>
        </p:grpSpPr>
        <p:sp>
          <p:nvSpPr>
            <p:cNvPr id="14" name="矩形 13"/>
            <p:cNvSpPr/>
            <p:nvPr userDrawn="1"/>
          </p:nvSpPr>
          <p:spPr>
            <a:xfrm>
              <a:off x="685800" y="1400452"/>
              <a:ext cx="8600440" cy="2595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685800" y="1458019"/>
              <a:ext cx="8600440" cy="26517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1066007" y="2432050"/>
            <a:ext cx="8909844" cy="2471738"/>
          </a:xfrm>
        </p:spPr>
        <p:txBody>
          <a:bodyPr/>
          <a:lstStyle>
            <a:lvl1pPr marL="266700" indent="-266700">
              <a:buFont typeface="Arial" panose="020B0604020202020204" pitchFamily="34" charset="0"/>
              <a:buChar char="•"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40" name="矩形 39"/>
          <p:cNvSpPr/>
          <p:nvPr userDrawn="1"/>
        </p:nvSpPr>
        <p:spPr>
          <a:xfrm>
            <a:off x="722384" y="1332206"/>
            <a:ext cx="233680" cy="7438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</p:nvPr>
        </p:nvSpPr>
        <p:spPr>
          <a:xfrm>
            <a:off x="1066006" y="1216332"/>
            <a:ext cx="8909844" cy="1021080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目录</a:t>
            </a:r>
          </a:p>
        </p:txBody>
      </p:sp>
      <p:grpSp>
        <p:nvGrpSpPr>
          <p:cNvPr id="42" name="jwc_logo"/>
          <p:cNvGrpSpPr/>
          <p:nvPr userDrawn="1"/>
        </p:nvGrpSpPr>
        <p:grpSpPr>
          <a:xfrm>
            <a:off x="1146090" y="6242962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43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1"/>
            <p:cNvSpPr>
              <a:spLocks/>
            </p:cNvSpPr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2"/>
            <p:cNvSpPr>
              <a:spLocks/>
            </p:cNvSpPr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43"/>
            <p:cNvSpPr>
              <a:spLocks/>
            </p:cNvSpPr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7392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g_right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805" r="22916"/>
          <a:stretch/>
        </p:blipFill>
        <p:spPr>
          <a:xfrm>
            <a:off x="8128000" y="-2621"/>
            <a:ext cx="4064000" cy="6858000"/>
          </a:xfrm>
          <a:prstGeom prst="rect">
            <a:avLst/>
          </a:prstGeom>
        </p:spPr>
      </p:pic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abg_main_theme"/>
          <p:cNvSpPr/>
          <p:nvPr userDrawn="1"/>
        </p:nvSpPr>
        <p:spPr>
          <a:xfrm>
            <a:off x="312912" y="0"/>
            <a:ext cx="95433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attern"/>
          <p:cNvSpPr/>
          <p:nvPr userDrawn="1"/>
        </p:nvSpPr>
        <p:spPr>
          <a:xfrm>
            <a:off x="312912" y="2951480"/>
            <a:ext cx="9540000" cy="3903899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 l="-10944" t="-11784" r="-378" b="-99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main_board"/>
          <p:cNvGrpSpPr/>
          <p:nvPr userDrawn="1"/>
        </p:nvGrpSpPr>
        <p:grpSpPr>
          <a:xfrm>
            <a:off x="726439" y="2305227"/>
            <a:ext cx="9539301" cy="1928259"/>
            <a:chOff x="685800" y="1400452"/>
            <a:chExt cx="8600440" cy="2709268"/>
          </a:xfrm>
          <a:effectLst>
            <a:outerShdw blurRad="203200" dist="38100" dir="2700000" algn="tl" rotWithShape="0">
              <a:prstClr val="black">
                <a:alpha val="19000"/>
              </a:prstClr>
            </a:outerShdw>
          </a:effectLst>
        </p:grpSpPr>
        <p:sp>
          <p:nvSpPr>
            <p:cNvPr id="14" name="矩形 13"/>
            <p:cNvSpPr/>
            <p:nvPr userDrawn="1"/>
          </p:nvSpPr>
          <p:spPr>
            <a:xfrm>
              <a:off x="685800" y="1400452"/>
              <a:ext cx="8600440" cy="2595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685800" y="1542955"/>
              <a:ext cx="8600440" cy="2566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08158" y="2774484"/>
            <a:ext cx="7726680" cy="833633"/>
          </a:xfrm>
        </p:spPr>
        <p:txBody>
          <a:bodyPr anchor="ctr">
            <a:normAutofit/>
          </a:bodyPr>
          <a:lstStyle>
            <a:lvl1pPr algn="l">
              <a:defRPr sz="4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单击编辑小节标题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808158" y="3617738"/>
            <a:ext cx="7726680" cy="409918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单击以编辑副标题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727075" y="2800739"/>
            <a:ext cx="898525" cy="883066"/>
          </a:xfrm>
          <a:solidFill>
            <a:schemeClr val="accent3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grpSp>
        <p:nvGrpSpPr>
          <p:cNvPr id="41" name="jwc_logo"/>
          <p:cNvGrpSpPr/>
          <p:nvPr userDrawn="1"/>
        </p:nvGrpSpPr>
        <p:grpSpPr>
          <a:xfrm>
            <a:off x="1146090" y="6242962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42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1"/>
            <p:cNvSpPr>
              <a:spLocks/>
            </p:cNvSpPr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2"/>
            <p:cNvSpPr>
              <a:spLocks/>
            </p:cNvSpPr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3"/>
            <p:cNvSpPr>
              <a:spLocks/>
            </p:cNvSpPr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088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abg_main_theme"/>
          <p:cNvSpPr/>
          <p:nvPr userDrawn="1"/>
        </p:nvSpPr>
        <p:spPr>
          <a:xfrm>
            <a:off x="312912" y="0"/>
            <a:ext cx="118790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attern"/>
          <p:cNvSpPr/>
          <p:nvPr userDrawn="1"/>
        </p:nvSpPr>
        <p:spPr>
          <a:xfrm>
            <a:off x="312912" y="1476000"/>
            <a:ext cx="11880000" cy="5382000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 l="-3788" t="-3537" r="-3788" b="-38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main_board"/>
          <p:cNvGrpSpPr/>
          <p:nvPr userDrawn="1"/>
        </p:nvGrpSpPr>
        <p:grpSpPr>
          <a:xfrm>
            <a:off x="726439" y="365125"/>
            <a:ext cx="11016382" cy="5812879"/>
            <a:chOff x="685800" y="1400452"/>
            <a:chExt cx="8600440" cy="2709269"/>
          </a:xfrm>
          <a:effectLst>
            <a:outerShdw blurRad="203200" dist="38100" dir="2700000" algn="tl" rotWithShape="0">
              <a:prstClr val="black">
                <a:alpha val="19000"/>
              </a:prstClr>
            </a:outerShdw>
          </a:effectLst>
        </p:grpSpPr>
        <p:sp>
          <p:nvSpPr>
            <p:cNvPr id="12" name="矩形 11"/>
            <p:cNvSpPr/>
            <p:nvPr userDrawn="1"/>
          </p:nvSpPr>
          <p:spPr>
            <a:xfrm>
              <a:off x="685800" y="1400452"/>
              <a:ext cx="8600440" cy="2595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685800" y="1443366"/>
              <a:ext cx="8600440" cy="26663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solidFill>
            <a:srgbClr val="000000">
              <a:alpha val="20000"/>
            </a:srgbClr>
          </a:solidFill>
        </p:spPr>
        <p:txBody>
          <a:bodyPr/>
          <a:lstStyle/>
          <a:p>
            <a:fld id="{5B74D221-F78E-4CE2-B90E-39C483F4591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1034" y="606265"/>
            <a:ext cx="10555326" cy="656061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0168" y="1283641"/>
            <a:ext cx="10546192" cy="4651081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8" name="矩形 37"/>
          <p:cNvSpPr/>
          <p:nvPr userDrawn="1"/>
        </p:nvSpPr>
        <p:spPr>
          <a:xfrm>
            <a:off x="722384" y="704310"/>
            <a:ext cx="144255" cy="4439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jwc_logo"/>
          <p:cNvGrpSpPr/>
          <p:nvPr userDrawn="1"/>
        </p:nvGrpSpPr>
        <p:grpSpPr>
          <a:xfrm>
            <a:off x="810813" y="6370363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39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1"/>
            <p:cNvSpPr>
              <a:spLocks/>
            </p:cNvSpPr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2"/>
            <p:cNvSpPr>
              <a:spLocks/>
            </p:cNvSpPr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3"/>
            <p:cNvSpPr>
              <a:spLocks/>
            </p:cNvSpPr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7696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abg_main_theme"/>
          <p:cNvSpPr/>
          <p:nvPr userDrawn="1"/>
        </p:nvSpPr>
        <p:spPr>
          <a:xfrm>
            <a:off x="312912" y="0"/>
            <a:ext cx="118790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attern"/>
          <p:cNvSpPr/>
          <p:nvPr userDrawn="1"/>
        </p:nvSpPr>
        <p:spPr>
          <a:xfrm>
            <a:off x="312912" y="1476000"/>
            <a:ext cx="11880000" cy="5382000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 l="-3788" t="-3537" r="-3788" b="-38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main_board"/>
          <p:cNvGrpSpPr/>
          <p:nvPr userDrawn="1"/>
        </p:nvGrpSpPr>
        <p:grpSpPr>
          <a:xfrm>
            <a:off x="726439" y="365125"/>
            <a:ext cx="11016382" cy="5812881"/>
            <a:chOff x="685800" y="1400452"/>
            <a:chExt cx="8600440" cy="2709270"/>
          </a:xfrm>
          <a:effectLst>
            <a:outerShdw blurRad="203200" dist="38100" dir="2700000" algn="tl" rotWithShape="0">
              <a:prstClr val="black">
                <a:alpha val="19000"/>
              </a:prstClr>
            </a:outerShdw>
          </a:effectLst>
        </p:grpSpPr>
        <p:sp>
          <p:nvSpPr>
            <p:cNvPr id="12" name="矩形 11"/>
            <p:cNvSpPr/>
            <p:nvPr userDrawn="1"/>
          </p:nvSpPr>
          <p:spPr>
            <a:xfrm>
              <a:off x="685800" y="1400452"/>
              <a:ext cx="8600440" cy="2595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685800" y="1443367"/>
              <a:ext cx="8600440" cy="26663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solidFill>
            <a:srgbClr val="000000">
              <a:alpha val="20000"/>
            </a:srgbClr>
          </a:solidFill>
        </p:spPr>
        <p:txBody>
          <a:bodyPr/>
          <a:lstStyle/>
          <a:p>
            <a:fld id="{5B74D221-F78E-4CE2-B90E-39C483F4591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0168" y="711201"/>
            <a:ext cx="10546192" cy="5223522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37" name="jwc_logo"/>
          <p:cNvGrpSpPr/>
          <p:nvPr userDrawn="1"/>
        </p:nvGrpSpPr>
        <p:grpSpPr>
          <a:xfrm>
            <a:off x="810813" y="6370363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38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1"/>
            <p:cNvSpPr>
              <a:spLocks/>
            </p:cNvSpPr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2"/>
            <p:cNvSpPr>
              <a:spLocks/>
            </p:cNvSpPr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3"/>
            <p:cNvSpPr>
              <a:spLocks/>
            </p:cNvSpPr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3864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abg_main_theme"/>
          <p:cNvSpPr/>
          <p:nvPr userDrawn="1"/>
        </p:nvSpPr>
        <p:spPr>
          <a:xfrm>
            <a:off x="312912" y="0"/>
            <a:ext cx="118790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attern"/>
          <p:cNvSpPr/>
          <p:nvPr userDrawn="1"/>
        </p:nvSpPr>
        <p:spPr>
          <a:xfrm>
            <a:off x="312912" y="1476000"/>
            <a:ext cx="11880000" cy="5382000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stretch>
              <a:fillRect l="-3788" t="-3537" r="-3788" b="-38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solidFill>
            <a:srgbClr val="000000">
              <a:alpha val="20000"/>
            </a:srgbClr>
          </a:solidFill>
        </p:spPr>
        <p:txBody>
          <a:bodyPr/>
          <a:lstStyle/>
          <a:p>
            <a:fld id="{5B74D221-F78E-4CE2-B90E-39C483F4591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37" name="jwc_logo"/>
          <p:cNvGrpSpPr/>
          <p:nvPr userDrawn="1"/>
        </p:nvGrpSpPr>
        <p:grpSpPr>
          <a:xfrm>
            <a:off x="810813" y="6370363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38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1"/>
            <p:cNvSpPr>
              <a:spLocks/>
            </p:cNvSpPr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2"/>
            <p:cNvSpPr>
              <a:spLocks/>
            </p:cNvSpPr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3"/>
            <p:cNvSpPr>
              <a:spLocks/>
            </p:cNvSpPr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006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_right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" r="277"/>
          <a:stretch/>
        </p:blipFill>
        <p:spPr>
          <a:xfrm>
            <a:off x="7677150" y="-2621"/>
            <a:ext cx="4514850" cy="6858000"/>
          </a:xfrm>
          <a:prstGeom prst="rect">
            <a:avLst/>
          </a:prstGeom>
        </p:spPr>
      </p:pic>
      <p:pic>
        <p:nvPicPr>
          <p:cNvPr id="8" name="bg_lef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bg_main_theme"/>
          <p:cNvSpPr/>
          <p:nvPr userDrawn="1"/>
        </p:nvSpPr>
        <p:spPr>
          <a:xfrm>
            <a:off x="956064" y="0"/>
            <a:ext cx="677823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attern"/>
          <p:cNvSpPr/>
          <p:nvPr userDrawn="1"/>
        </p:nvSpPr>
        <p:spPr>
          <a:xfrm>
            <a:off x="504000" y="2951480"/>
            <a:ext cx="8597407" cy="3903899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stretch>
              <a:fillRect l="-12182" t="-11784" r="-11344" b="-99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main_board"/>
          <p:cNvGrpSpPr/>
          <p:nvPr userDrawn="1"/>
        </p:nvGrpSpPr>
        <p:grpSpPr>
          <a:xfrm>
            <a:off x="1443990" y="1400452"/>
            <a:ext cx="6774180" cy="2709268"/>
            <a:chOff x="685800" y="1400452"/>
            <a:chExt cx="8600440" cy="2709268"/>
          </a:xfrm>
          <a:effectLst>
            <a:outerShdw blurRad="203200" dist="38100" dir="2700000" algn="tl" rotWithShape="0">
              <a:prstClr val="black">
                <a:alpha val="19000"/>
              </a:prstClr>
            </a:outerShdw>
          </a:effectLst>
        </p:grpSpPr>
        <p:sp>
          <p:nvSpPr>
            <p:cNvPr id="14" name="矩形 13"/>
            <p:cNvSpPr/>
            <p:nvPr userDrawn="1"/>
          </p:nvSpPr>
          <p:spPr>
            <a:xfrm>
              <a:off x="685800" y="1400452"/>
              <a:ext cx="8600440" cy="25958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685800" y="1513840"/>
              <a:ext cx="8600440" cy="2595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63639" y="2004459"/>
            <a:ext cx="5972261" cy="833633"/>
          </a:xfrm>
        </p:spPr>
        <p:txBody>
          <a:bodyPr anchor="ctr">
            <a:noAutofit/>
          </a:bodyPr>
          <a:lstStyle>
            <a:lvl1pPr algn="l">
              <a:defRPr sz="6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谢谢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863639" y="2838092"/>
            <a:ext cx="5972261" cy="49061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单击以编辑副标题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1439934" y="2004459"/>
            <a:ext cx="233680" cy="7438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jwc_logo"/>
          <p:cNvGrpSpPr/>
          <p:nvPr userDrawn="1"/>
        </p:nvGrpSpPr>
        <p:grpSpPr>
          <a:xfrm>
            <a:off x="1529041" y="6238395"/>
            <a:ext cx="1809740" cy="305514"/>
            <a:chOff x="8729725" y="4570716"/>
            <a:chExt cx="2830513" cy="477838"/>
          </a:xfrm>
          <a:solidFill>
            <a:schemeClr val="bg1">
              <a:alpha val="50000"/>
            </a:schemeClr>
          </a:solidFill>
        </p:grpSpPr>
        <p:sp>
          <p:nvSpPr>
            <p:cNvPr id="61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41"/>
            <p:cNvSpPr>
              <a:spLocks/>
            </p:cNvSpPr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42"/>
            <p:cNvSpPr>
              <a:spLocks/>
            </p:cNvSpPr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43"/>
            <p:cNvSpPr>
              <a:spLocks/>
            </p:cNvSpPr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0497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7FAE3-B6A6-4F8C-A3EE-9B3A5A9AB4F0}" type="datetimeFigureOut">
              <a:rPr lang="zh-CN" altLang="en-US" smtClean="0"/>
              <a:t>2025/6/6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53800" y="6356349"/>
            <a:ext cx="412750" cy="365125"/>
          </a:xfrm>
          <a:prstGeom prst="rect">
            <a:avLst/>
          </a:prstGeom>
          <a:solidFill>
            <a:schemeClr val="tx1">
              <a:alpha val="1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5B74D221-F78E-4CE2-B90E-39C483F4591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42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0" r:id="rId3"/>
    <p:sldLayoutId id="2147483650" r:id="rId4"/>
    <p:sldLayoutId id="2147483663" r:id="rId5"/>
    <p:sldLayoutId id="2147483664" r:id="rId6"/>
    <p:sldLayoutId id="214748366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进展汇报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SA24218245-</a:t>
            </a:r>
            <a:r>
              <a:rPr lang="zh-CN" altLang="en-US" dirty="0"/>
              <a:t>赵可鉴</a:t>
            </a:r>
          </a:p>
        </p:txBody>
      </p:sp>
    </p:spTree>
    <p:extLst>
      <p:ext uri="{BB962C8B-B14F-4D97-AF65-F5344CB8AC3E}">
        <p14:creationId xmlns:p14="http://schemas.microsoft.com/office/powerpoint/2010/main" val="2940394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论坛系统项目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009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0B480-63CF-D828-CA92-37ABFEFDC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FF51F-CBC7-0737-CE0C-A36753BA9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外观展示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C7FACCC-2430-7248-8BEF-4EC0EB621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877" y="1411955"/>
            <a:ext cx="8995640" cy="452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64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418B0-1CDF-2788-6D12-7E8867201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30581-135E-653F-7AD5-8C073BBA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外观展示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693CB9-AC8A-BB0A-BDE2-F5F512EE0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818" y="1429788"/>
            <a:ext cx="9922364" cy="468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11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15E4-015F-1A1B-F696-DA840576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5657A-4297-846C-87E1-CC86AA80D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外观展示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1B5B64-DD90-BBE8-531A-E7CF6A312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111" y="1454727"/>
            <a:ext cx="10185777" cy="442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8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B9B57-60A2-2849-2742-23B920C8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前端结构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5F208A7-ADE3-D55C-4BB4-32C6C75CA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9718" y="1284288"/>
            <a:ext cx="7506251" cy="4649787"/>
          </a:xfrm>
        </p:spPr>
      </p:pic>
    </p:spTree>
    <p:extLst>
      <p:ext uri="{BB962C8B-B14F-4D97-AF65-F5344CB8AC3E}">
        <p14:creationId xmlns:p14="http://schemas.microsoft.com/office/powerpoint/2010/main" val="543017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32C66-4CB4-B347-CD2A-27A95E71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B0575-CBC5-ACE8-C639-244AC3BE5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后端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B3157A-99C4-AFF4-4164-2CAA97536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控制器层 </a:t>
            </a:r>
            <a:r>
              <a:rPr lang="en-US" altLang="zh-CN" dirty="0"/>
              <a:t>(Controller)</a:t>
            </a:r>
            <a:r>
              <a:rPr lang="zh-CN" altLang="en-US" dirty="0"/>
              <a:t>：处理 </a:t>
            </a:r>
            <a:r>
              <a:rPr lang="en-US" altLang="zh-CN" dirty="0"/>
              <a:t>HTTP </a:t>
            </a:r>
            <a:r>
              <a:rPr lang="zh-CN" altLang="en-US" dirty="0"/>
              <a:t>请求。</a:t>
            </a:r>
          </a:p>
          <a:p>
            <a:r>
              <a:rPr lang="zh-CN" altLang="en-US" dirty="0"/>
              <a:t>服务层 </a:t>
            </a:r>
            <a:r>
              <a:rPr lang="en-US" altLang="zh-CN" dirty="0"/>
              <a:t>(Service)</a:t>
            </a:r>
            <a:r>
              <a:rPr lang="zh-CN" altLang="en-US" dirty="0"/>
              <a:t>：业务逻辑处理。</a:t>
            </a:r>
          </a:p>
          <a:p>
            <a:r>
              <a:rPr lang="zh-CN" altLang="en-US" dirty="0"/>
              <a:t>数据访问层 </a:t>
            </a:r>
            <a:r>
              <a:rPr lang="en-US" altLang="zh-CN" dirty="0"/>
              <a:t>(Mapper)</a:t>
            </a:r>
            <a:r>
              <a:rPr lang="zh-CN" altLang="en-US" dirty="0"/>
              <a:t>：与数据库交互。</a:t>
            </a:r>
          </a:p>
          <a:p>
            <a:r>
              <a:rPr lang="zh-CN" altLang="en-US" dirty="0"/>
              <a:t>实体类 </a:t>
            </a:r>
            <a:r>
              <a:rPr lang="en-US" altLang="zh-CN" dirty="0"/>
              <a:t>(</a:t>
            </a:r>
            <a:r>
              <a:rPr lang="en-US" altLang="zh-CN" dirty="0" err="1"/>
              <a:t>Pojo</a:t>
            </a:r>
            <a:r>
              <a:rPr lang="en-US" altLang="zh-CN" dirty="0"/>
              <a:t>)</a:t>
            </a:r>
            <a:r>
              <a:rPr lang="zh-CN" altLang="en-US" dirty="0"/>
              <a:t>：封装数据模型。</a:t>
            </a:r>
          </a:p>
          <a:p>
            <a:r>
              <a:rPr lang="zh-CN" altLang="en-US" dirty="0"/>
              <a:t>工具类 </a:t>
            </a:r>
            <a:r>
              <a:rPr lang="en-US" altLang="zh-CN" dirty="0"/>
              <a:t>(Utils)</a:t>
            </a:r>
            <a:r>
              <a:rPr lang="zh-CN" altLang="en-US" dirty="0"/>
              <a:t>：通用辅助功能</a:t>
            </a:r>
          </a:p>
        </p:txBody>
      </p:sp>
    </p:spTree>
    <p:extLst>
      <p:ext uri="{BB962C8B-B14F-4D97-AF65-F5344CB8AC3E}">
        <p14:creationId xmlns:p14="http://schemas.microsoft.com/office/powerpoint/2010/main" val="1164763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938C6-39B3-B280-9896-F7CE16A1B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A83ED-0D54-EEF9-276F-D15A77FF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后端</a:t>
            </a:r>
            <a:r>
              <a:rPr lang="en-US" altLang="zh-CN" dirty="0"/>
              <a:t>-</a:t>
            </a:r>
            <a:r>
              <a:rPr lang="zh-CN" altLang="en-US" dirty="0"/>
              <a:t>用户管理模块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46A2BD-AA86-4DCF-5CE1-08B899825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功能描述：</a:t>
            </a:r>
          </a:p>
          <a:p>
            <a:pPr lvl="1"/>
            <a:r>
              <a:rPr lang="zh-CN" altLang="en-US" dirty="0"/>
              <a:t>用户登录认证</a:t>
            </a:r>
          </a:p>
          <a:p>
            <a:pPr lvl="1"/>
            <a:r>
              <a:rPr lang="zh-CN" altLang="en-US" dirty="0"/>
              <a:t>用户信息管理（增删改查）</a:t>
            </a:r>
          </a:p>
          <a:p>
            <a:pPr lvl="1"/>
            <a:r>
              <a:rPr lang="zh-CN" altLang="en-US" dirty="0"/>
              <a:t>登录拦截器（通过 </a:t>
            </a:r>
            <a:r>
              <a:rPr lang="en-US" altLang="zh-CN" dirty="0"/>
              <a:t>JWT </a:t>
            </a:r>
            <a:r>
              <a:rPr lang="zh-CN" altLang="en-US" dirty="0"/>
              <a:t>校验身份）</a:t>
            </a:r>
          </a:p>
          <a:p>
            <a:pPr lvl="1"/>
            <a:r>
              <a:rPr lang="zh-CN" altLang="en-US" dirty="0"/>
              <a:t>使用 </a:t>
            </a:r>
            <a:r>
              <a:rPr lang="en-US" altLang="zh-CN" dirty="0"/>
              <a:t>MD5 </a:t>
            </a:r>
            <a:r>
              <a:rPr lang="zh-CN" altLang="en-US" dirty="0"/>
              <a:t>对密码进行加密存储</a:t>
            </a:r>
          </a:p>
          <a:p>
            <a:endParaRPr lang="en-US" altLang="zh-CN" dirty="0"/>
          </a:p>
          <a:p>
            <a:r>
              <a:rPr lang="zh-CN" altLang="en-US" dirty="0"/>
              <a:t>技术点：</a:t>
            </a:r>
          </a:p>
          <a:p>
            <a:pPr lvl="1"/>
            <a:r>
              <a:rPr lang="en-US" altLang="zh-CN" dirty="0"/>
              <a:t>JWT</a:t>
            </a:r>
            <a:r>
              <a:rPr lang="zh-CN" altLang="en-US" dirty="0"/>
              <a:t>（用于生成 </a:t>
            </a:r>
            <a:r>
              <a:rPr lang="en-US" altLang="zh-CN" dirty="0"/>
              <a:t>Token</a:t>
            </a:r>
            <a:r>
              <a:rPr lang="zh-CN" altLang="en-US" dirty="0"/>
              <a:t>）</a:t>
            </a:r>
          </a:p>
          <a:p>
            <a:pPr lvl="1"/>
            <a:r>
              <a:rPr lang="en-US" altLang="zh-CN" dirty="0" err="1"/>
              <a:t>ThreadLocalUtil</a:t>
            </a:r>
            <a:r>
              <a:rPr lang="zh-CN" altLang="en-US" dirty="0"/>
              <a:t>（线程上下文存储用户信息）</a:t>
            </a:r>
          </a:p>
          <a:p>
            <a:pPr lvl="1"/>
            <a:r>
              <a:rPr lang="zh-CN" altLang="en-US" dirty="0"/>
              <a:t>登录拦截器（防止未授权访问）</a:t>
            </a:r>
          </a:p>
        </p:txBody>
      </p:sp>
    </p:spTree>
    <p:extLst>
      <p:ext uri="{BB962C8B-B14F-4D97-AF65-F5344CB8AC3E}">
        <p14:creationId xmlns:p14="http://schemas.microsoft.com/office/powerpoint/2010/main" val="2991925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37F64-862E-5FD1-C86C-AC93B23C0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后续优化点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AEE2F3-D7F5-DCC3-E652-5C1720957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了解到光宇项目的</a:t>
            </a:r>
            <a:r>
              <a:rPr lang="en-US" altLang="zh-CN" dirty="0"/>
              <a:t>python</a:t>
            </a:r>
            <a:r>
              <a:rPr lang="zh-CN" altLang="en-US" dirty="0"/>
              <a:t>版本为</a:t>
            </a:r>
            <a:r>
              <a:rPr lang="en-US" altLang="zh-CN" dirty="0"/>
              <a:t>3.6.13</a:t>
            </a:r>
            <a:r>
              <a:rPr lang="zh-CN" altLang="en-US" dirty="0"/>
              <a:t>，目前</a:t>
            </a:r>
            <a:r>
              <a:rPr lang="en-US" altLang="zh-CN" dirty="0"/>
              <a:t>java</a:t>
            </a:r>
            <a:r>
              <a:rPr lang="zh-CN" altLang="en-US" dirty="0"/>
              <a:t>自带的</a:t>
            </a:r>
            <a:r>
              <a:rPr lang="en-US" altLang="zh-CN" dirty="0" err="1"/>
              <a:t>jython</a:t>
            </a:r>
            <a:r>
              <a:rPr lang="zh-CN" altLang="en-US" dirty="0"/>
              <a:t>最高只支持到</a:t>
            </a:r>
            <a:r>
              <a:rPr lang="en-US" altLang="zh-CN" dirty="0"/>
              <a:t>python2.7</a:t>
            </a:r>
          </a:p>
          <a:p>
            <a:endParaRPr lang="en-US" altLang="zh-CN" dirty="0"/>
          </a:p>
          <a:p>
            <a:r>
              <a:rPr lang="zh-CN" altLang="en-US" dirty="0"/>
              <a:t>两种方式支持高版本</a:t>
            </a:r>
            <a:r>
              <a:rPr lang="en-US" altLang="zh-CN" dirty="0"/>
              <a:t>python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执行命令行</a:t>
            </a:r>
            <a:endParaRPr lang="en-US" altLang="zh-CN" dirty="0"/>
          </a:p>
          <a:p>
            <a:pPr lvl="1"/>
            <a:r>
              <a:rPr lang="en-US" altLang="zh-CN" dirty="0"/>
              <a:t>2. socket</a:t>
            </a:r>
            <a:r>
              <a:rPr lang="zh-CN" altLang="en-US" dirty="0"/>
              <a:t>通信（更优）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3038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36C58-E5DF-E2A3-50A7-B7E3F1731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8FB5B-7C60-03D3-1E02-E4B6F06730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大众点评项目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E187E6-82F7-A010-1A33-C806BBABF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AB265E-C12A-4856-A651-814F6F0B8E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40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谢谢！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请提宝贵意见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26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teach05">
      <a:dk1>
        <a:srgbClr val="323F4F"/>
      </a:dk1>
      <a:lt1>
        <a:sysClr val="window" lastClr="FFFFFF"/>
      </a:lt1>
      <a:dk2>
        <a:srgbClr val="44546A"/>
      </a:dk2>
      <a:lt2>
        <a:srgbClr val="E7E6E6"/>
      </a:lt2>
      <a:accent1>
        <a:srgbClr val="123B64"/>
      </a:accent1>
      <a:accent2>
        <a:srgbClr val="3798EC"/>
      </a:accent2>
      <a:accent3>
        <a:srgbClr val="FFCB0E"/>
      </a:accent3>
      <a:accent4>
        <a:srgbClr val="D7244E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ach">
      <a:majorFont>
        <a:latin typeface="Candara"/>
        <a:ea typeface="微软雅黑"/>
        <a:cs typeface=""/>
      </a:majorFont>
      <a:minorFont>
        <a:latin typeface="Candar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181</Words>
  <Application>Microsoft Office PowerPoint</Application>
  <PresentationFormat>宽屏</PresentationFormat>
  <Paragraphs>36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Arial</vt:lpstr>
      <vt:lpstr>Candara</vt:lpstr>
      <vt:lpstr>Office 主题​​</vt:lpstr>
      <vt:lpstr>进展汇报</vt:lpstr>
      <vt:lpstr>论坛系统项目</vt:lpstr>
      <vt:lpstr>外观展示</vt:lpstr>
      <vt:lpstr>外观展示</vt:lpstr>
      <vt:lpstr>外观展示</vt:lpstr>
      <vt:lpstr>前端结构</vt:lpstr>
      <vt:lpstr>后端</vt:lpstr>
      <vt:lpstr>后端-用户管理模块</vt:lpstr>
      <vt:lpstr>后续优化点</vt:lpstr>
      <vt:lpstr>大众点评项目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教务处PPT模板005</dc:title>
  <dc:creator>现代教育技术中心</dc:creator>
  <cp:lastModifiedBy>可鉴 赵</cp:lastModifiedBy>
  <cp:revision>58</cp:revision>
  <dcterms:created xsi:type="dcterms:W3CDTF">2019-09-10T12:31:38Z</dcterms:created>
  <dcterms:modified xsi:type="dcterms:W3CDTF">2025-06-06T17:49:25Z</dcterms:modified>
</cp:coreProperties>
</file>