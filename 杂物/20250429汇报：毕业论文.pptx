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4F029-0C6D-AB0F-919D-BA260CAD5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C44B0A-D57E-5838-4C64-ADCCA09CD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10716E-43A9-C574-A7C9-EDB39B6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7448BB-F07B-1E4C-EC51-195AE566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99B500-8CBA-2D40-8CED-18E8D99E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94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88471-C1AA-1E81-CEED-D5D93F39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6F988-F8FC-B291-EA27-366C33215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B0581-1A37-3AA0-7014-64AD1D1C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781D1-F384-72F8-5DCF-DE88906E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2268D7-199A-0FF0-9F0B-444CEAB6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0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85C9B-0067-C38B-B20A-0DE2EF85D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CD4752-F745-8ABA-DD58-115F19C0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D8F3F8-13E5-CEA1-4B52-A3E7E815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DE6079-79D3-7A03-9967-356AA88B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8F5645-A72A-4E4F-42F4-5271359A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78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C744A-9D42-34C0-E507-1C9A7155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E73F7C-815C-512B-C13A-5EC87C44A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4C3355-E9BA-2289-BD07-3204CA913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6647F3-97B8-6314-9158-06B0DEC00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D4AE5F-9F03-66D3-31EB-B8468799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9B3B16-330C-5F26-27DF-AA1F6600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15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3BC6D-F5A9-05F7-0942-A257110D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8F96BA-90AD-3287-D585-B1B6D2E19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F5FDA9-3A74-BCA5-39ED-ED6FF3AA2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229340-59EA-A645-15F3-3CB410FEE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D25F77-8F49-1F6F-DAD5-64C3830FE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6A850A-2045-0FB6-AC2A-85EF6E41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DF14C9-A29A-04F0-FA43-9D5FE850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9A20E1-3240-D308-F804-4AD82F73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43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799A8-484D-B1AC-7D1D-9169DE61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7DCF6E-FC47-A629-D7DD-0D8FA0D1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816BF2-FC8C-095F-B401-CE9314E4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80BDFD-A033-0E50-2E3A-36DC3235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462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79089D-A9DF-7B20-F3B5-7C2E989BC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3A31FB-A0F6-481D-43FE-38595FCC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D86F4F-B03F-3D0C-B0D3-FE986AE9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79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DC0B6-DB74-7743-F2F4-44D41747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12583D-E042-74B5-B5B7-9C1133D5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261828-FD2F-49AA-E5BA-3DF07F91C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D2B30D-12C4-3162-17BC-57554B7E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8D9CBD-49DE-FE0D-DA6E-2C5A424B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3032A1-A0CA-9781-C4D3-943478A9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62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F4F80-D0CF-E48C-3C4D-214B00A24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F0D991-73C1-88C2-F1C4-D7DB7A707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CD60D-B2AD-874E-D7AA-059F44F5E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0BE5C6-3ABF-C2DA-0100-2BE1E4A3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BADBF6-300F-33D7-89EF-C70C115B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6EB988-F1A5-5A83-4180-A6257AAF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7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5B6FF2-C461-EB74-1041-7B428D6E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2EB36C-D705-6BDE-0636-7E8ABB9B6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8CEAF1-503C-6F42-422C-D5AFD621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676CA-9F7D-C677-6D3A-56FA222A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ECB6C-1819-0DE9-FBE9-9BDA9F32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37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C0600E-C908-4EAC-75E8-97F82BE55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440B86-9BE6-2F0F-A2EF-EA2C7D6D0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D91EB-845C-051F-2955-2948279E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C6D12B-0474-5B45-D108-07671065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628BE2-303B-011D-0B74-04D40108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798B4D-61AF-555E-485C-69F280C0A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C2281D-A67D-C832-EEA9-F4402F6DB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A761B-E2CC-A052-1BF8-7762DA12B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E4CAF-77A2-4D2E-B718-337746C09171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63CADD-6284-2DEA-B981-9A930DDA7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AC670-AD98-1B5B-E3AB-05B48EA42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3D10E-0E0D-440B-8157-B0362DD01C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3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D92FA-99F8-3961-A40E-7A4EA3AA5B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毕业论文调研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CEC19C-FDBD-871B-5FB0-13477606F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229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56CAF-C97B-609B-1F6D-C1E3006B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PingFang SC"/>
              </a:rPr>
              <a:t>毕业要求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34C08E-C445-9FBB-ED8D-8B6AAAA00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35790" cy="4917146"/>
          </a:xfrm>
        </p:spPr>
        <p:txBody>
          <a:bodyPr/>
          <a:lstStyle/>
          <a:p>
            <a:r>
              <a:rPr lang="zh-CN" altLang="en-US" dirty="0"/>
              <a:t>学校规定：学位论文</a:t>
            </a:r>
            <a:r>
              <a:rPr lang="en-US" altLang="zh-CN" dirty="0"/>
              <a:t>+</a:t>
            </a:r>
            <a:r>
              <a:rPr lang="zh-CN" altLang="en-US" dirty="0"/>
              <a:t>小论文</a:t>
            </a:r>
            <a:r>
              <a:rPr lang="en-US" altLang="zh-CN" dirty="0"/>
              <a:t>/</a:t>
            </a:r>
            <a:r>
              <a:rPr lang="zh-CN" altLang="en-US" dirty="0"/>
              <a:t>专利</a:t>
            </a:r>
            <a:r>
              <a:rPr lang="en-US" altLang="zh-CN" dirty="0"/>
              <a:t>/</a:t>
            </a:r>
            <a:r>
              <a:rPr lang="zh-CN" altLang="en-US" dirty="0"/>
              <a:t>成果应用证明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先研院：大部分</a:t>
            </a:r>
            <a:r>
              <a:rPr lang="en-US" altLang="zh-CN" dirty="0"/>
              <a:t>AI</a:t>
            </a:r>
            <a:r>
              <a:rPr lang="zh-CN" altLang="en-US" dirty="0"/>
              <a:t>相关，靠小论文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软件学院：大部分开发相关</a:t>
            </a:r>
            <a:endParaRPr lang="en-US" altLang="zh-CN" dirty="0"/>
          </a:p>
          <a:p>
            <a:pPr lvl="1"/>
            <a:r>
              <a:rPr lang="zh-CN" altLang="en-US" dirty="0"/>
              <a:t>软院毕业要求有一项是至少</a:t>
            </a:r>
            <a:r>
              <a:rPr lang="en-US" altLang="zh-CN" dirty="0"/>
              <a:t>7</a:t>
            </a:r>
            <a:r>
              <a:rPr lang="zh-CN" altLang="en-US" dirty="0"/>
              <a:t>个月的实习，通常在研二在互联网大厂，自己找</a:t>
            </a:r>
            <a:endParaRPr lang="en-US" altLang="zh-CN" dirty="0"/>
          </a:p>
          <a:p>
            <a:pPr lvl="1"/>
            <a:r>
              <a:rPr lang="zh-CN" altLang="en-US" dirty="0"/>
              <a:t>这段实习中会找对应的公司开具成果应用证明，证明开发了</a:t>
            </a:r>
            <a:r>
              <a:rPr lang="en-US" altLang="zh-CN" dirty="0"/>
              <a:t>xx</a:t>
            </a:r>
            <a:r>
              <a:rPr lang="zh-CN" altLang="en-US" dirty="0"/>
              <a:t>系统，投入了</a:t>
            </a:r>
            <a:r>
              <a:rPr lang="en-US" altLang="zh-CN" dirty="0"/>
              <a:t>xx</a:t>
            </a:r>
            <a:r>
              <a:rPr lang="zh-CN" altLang="en-US" dirty="0"/>
              <a:t>使用，提升了</a:t>
            </a:r>
            <a:r>
              <a:rPr lang="en-US" altLang="zh-CN" dirty="0"/>
              <a:t>xx</a:t>
            </a:r>
            <a:r>
              <a:rPr lang="zh-CN" altLang="en-US" dirty="0"/>
              <a:t>效率</a:t>
            </a:r>
            <a:endParaRPr lang="en-US" altLang="zh-CN" dirty="0"/>
          </a:p>
          <a:p>
            <a:pPr lvl="1"/>
            <a:r>
              <a:rPr lang="zh-CN" altLang="en-US" dirty="0"/>
              <a:t>毕业论文与之相关，由于设计公司商业秘密，软件学院不公开毕业论文</a:t>
            </a:r>
          </a:p>
        </p:txBody>
      </p:sp>
    </p:spTree>
    <p:extLst>
      <p:ext uri="{BB962C8B-B14F-4D97-AF65-F5344CB8AC3E}">
        <p14:creationId xmlns:p14="http://schemas.microsoft.com/office/powerpoint/2010/main" val="229694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91042-886F-3A36-C381-95FA8016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fontAlgn="base">
              <a:lnSpc>
                <a:spcPts val="2400"/>
              </a:lnSpc>
              <a:spcBef>
                <a:spcPts val="1800"/>
              </a:spcBef>
              <a:spcAft>
                <a:spcPts val="600"/>
              </a:spcAft>
            </a:pPr>
            <a:r>
              <a:rPr lang="zh-CN" altLang="en-US" b="1" i="0" dirty="0">
                <a:effectLst/>
                <a:latin typeface="PingFang SC"/>
              </a:rPr>
              <a:t>论文格式与结构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EFE8D-733F-4DB2-75B3-968642D7A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绪论（研究背景、意义、现状分析）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相关技术（技术选型与原理分析）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需求分析（功能</a:t>
            </a:r>
            <a:r>
              <a:rPr lang="en-US" altLang="zh-CN" b="0" i="0" dirty="0">
                <a:effectLst/>
                <a:latin typeface="PingFang SC"/>
              </a:rPr>
              <a:t>/</a:t>
            </a:r>
            <a:r>
              <a:rPr lang="zh-CN" altLang="en-US" b="0" i="0" dirty="0">
                <a:effectLst/>
                <a:latin typeface="PingFang SC"/>
              </a:rPr>
              <a:t>非功能需求建模）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系统设计（架构设计、模块划分、数据库设计）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详细实现（类图、时序图、核心代码片段）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系统测试（测试方案与结果分析）</a:t>
            </a:r>
          </a:p>
          <a:p>
            <a:pPr algn="l" fontAlgn="base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总结与展望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152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2259D-03E6-A86B-9B08-7FE92BF57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PingFang SC"/>
              </a:rPr>
              <a:t>需要完成的核心事项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5062C-55D2-A88C-408C-045092491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fontAlgn="base"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i="0" dirty="0">
                <a:effectLst/>
                <a:latin typeface="inherit"/>
              </a:rPr>
              <a:t>问题驱动​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明确研究背景（如医疗数据安全问题）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提炼现有方案的不足（如静态脱敏策略不灵活）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​技术创新​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提出解决方案（动态策略</a:t>
            </a:r>
            <a:r>
              <a:rPr lang="en-US" altLang="zh-CN" b="0" i="0" dirty="0">
                <a:effectLst/>
                <a:latin typeface="PingFang SC"/>
              </a:rPr>
              <a:t>+</a:t>
            </a:r>
            <a:r>
              <a:rPr lang="zh-CN" altLang="en-US" b="0" i="0" dirty="0">
                <a:effectLst/>
                <a:latin typeface="PingFang SC"/>
              </a:rPr>
              <a:t>业务层脱敏框架）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实现技术突破（如集成</a:t>
            </a:r>
            <a:r>
              <a:rPr lang="en-US" altLang="zh-CN" b="0" i="0" dirty="0">
                <a:effectLst/>
                <a:latin typeface="PingFang SC"/>
              </a:rPr>
              <a:t>Aviator</a:t>
            </a:r>
            <a:r>
              <a:rPr lang="zh-CN" altLang="en-US" b="0" i="0" dirty="0">
                <a:effectLst/>
                <a:latin typeface="PingFang SC"/>
              </a:rPr>
              <a:t>脚本引擎）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​工程实践​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完整的系统开发（前端</a:t>
            </a:r>
            <a:r>
              <a:rPr lang="en-US" altLang="zh-CN" b="0" i="0" dirty="0">
                <a:effectLst/>
                <a:latin typeface="PingFang SC"/>
              </a:rPr>
              <a:t>+</a:t>
            </a:r>
            <a:r>
              <a:rPr lang="zh-CN" altLang="en-US" b="0" i="0" dirty="0">
                <a:effectLst/>
                <a:latin typeface="PingFang SC"/>
              </a:rPr>
              <a:t>后端</a:t>
            </a:r>
            <a:r>
              <a:rPr lang="en-US" altLang="zh-CN" b="0" i="0" dirty="0">
                <a:effectLst/>
                <a:latin typeface="PingFang SC"/>
              </a:rPr>
              <a:t>+</a:t>
            </a:r>
            <a:r>
              <a:rPr lang="zh-CN" altLang="en-US" b="0" i="0" dirty="0">
                <a:effectLst/>
                <a:latin typeface="PingFang SC"/>
              </a:rPr>
              <a:t>数据库）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采用软件工程方法（</a:t>
            </a:r>
            <a:r>
              <a:rPr lang="en-US" altLang="zh-CN" b="0" i="0" dirty="0">
                <a:effectLst/>
                <a:latin typeface="PingFang SC"/>
              </a:rPr>
              <a:t>UML</a:t>
            </a:r>
            <a:r>
              <a:rPr lang="zh-CN" altLang="en-US" b="0" i="0" dirty="0">
                <a:effectLst/>
                <a:latin typeface="PingFang SC"/>
              </a:rPr>
              <a:t>建模、分层架构）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​验证体系​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功能性测试（用例覆盖率</a:t>
            </a:r>
            <a:r>
              <a:rPr lang="en-US" altLang="zh-CN" b="0" i="0" dirty="0">
                <a:effectLst/>
                <a:latin typeface="PingFang SC"/>
              </a:rPr>
              <a:t>100%</a:t>
            </a:r>
            <a:r>
              <a:rPr lang="zh-CN" altLang="en-US" b="0" i="0" dirty="0">
                <a:effectLst/>
                <a:latin typeface="PingFang SC"/>
              </a:rPr>
              <a:t>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非功能性验证（性能压测、高可用测试）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量化效果（如</a:t>
            </a:r>
            <a:r>
              <a:rPr lang="en-US" altLang="zh-CN" b="0" i="0" dirty="0">
                <a:effectLst/>
                <a:latin typeface="PingFang SC"/>
              </a:rPr>
              <a:t>"</a:t>
            </a:r>
            <a:r>
              <a:rPr lang="zh-CN" altLang="en-US" b="0" i="0" dirty="0">
                <a:effectLst/>
                <a:latin typeface="PingFang SC"/>
              </a:rPr>
              <a:t>准确率</a:t>
            </a:r>
            <a:r>
              <a:rPr lang="en-US" altLang="zh-CN" b="0" i="0" dirty="0">
                <a:effectLst/>
                <a:latin typeface="PingFang SC"/>
              </a:rPr>
              <a:t>99.8%</a:t>
            </a:r>
            <a:r>
              <a:rPr lang="zh-CN" altLang="en-US" b="0" i="0" dirty="0">
                <a:effectLst/>
                <a:latin typeface="PingFang SC"/>
              </a:rPr>
              <a:t>，开发效率提升</a:t>
            </a:r>
            <a:r>
              <a:rPr lang="en-US" altLang="zh-CN" b="0" i="0" dirty="0">
                <a:effectLst/>
                <a:latin typeface="PingFang SC"/>
              </a:rPr>
              <a:t>35%"</a:t>
            </a:r>
            <a:r>
              <a:rPr lang="zh-CN" altLang="en-US" b="0" i="0" dirty="0">
                <a:effectLst/>
                <a:latin typeface="PingFang SC"/>
              </a:rPr>
              <a:t>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7100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CA57A-E667-3E18-D4E5-C6D904B2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PingFang SC"/>
              </a:rPr>
              <a:t>创新点设计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6C4AD-7FAD-B696-A8AF-6A08F1218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​切入点​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现有方案缺陷（如数据库级脱敏无法动态调整）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新兴场景需求（互联网医疗数据安全）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​创新维度​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​架构创新​</a:t>
            </a:r>
            <a:r>
              <a:rPr lang="zh-CN" altLang="en-US" b="0" i="0" dirty="0">
                <a:effectLst/>
                <a:latin typeface="PingFang SC"/>
              </a:rPr>
              <a:t>​：业务层动态脱敏框架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​策略创新​</a:t>
            </a:r>
            <a:r>
              <a:rPr lang="zh-CN" altLang="en-US" b="0" i="0" dirty="0">
                <a:effectLst/>
                <a:latin typeface="PingFang SC"/>
              </a:rPr>
              <a:t>​：</a:t>
            </a:r>
            <a:r>
              <a:rPr lang="en-US" altLang="zh-CN" b="0" i="0" dirty="0">
                <a:effectLst/>
                <a:latin typeface="PingFang SC"/>
              </a:rPr>
              <a:t>RBAC+</a:t>
            </a:r>
            <a:r>
              <a:rPr lang="zh-CN" altLang="en-US" b="0" i="0" dirty="0">
                <a:effectLst/>
                <a:latin typeface="PingFang SC"/>
              </a:rPr>
              <a:t>多级脱敏策略组合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​技术整合​</a:t>
            </a:r>
            <a:r>
              <a:rPr lang="zh-CN" altLang="en-US" b="0" i="0" dirty="0">
                <a:effectLst/>
                <a:latin typeface="PingFang SC"/>
              </a:rPr>
              <a:t>​：</a:t>
            </a:r>
            <a:r>
              <a:rPr lang="en-US" altLang="zh-CN" b="0" i="0" dirty="0">
                <a:effectLst/>
                <a:latin typeface="PingFang SC"/>
              </a:rPr>
              <a:t>Spring </a:t>
            </a:r>
            <a:r>
              <a:rPr lang="en-US" altLang="zh-CN" b="0" i="0" dirty="0" err="1">
                <a:effectLst/>
                <a:latin typeface="PingFang SC"/>
              </a:rPr>
              <a:t>AOP+Zookeeper+Aviator</a:t>
            </a:r>
            <a:endParaRPr lang="en-US" altLang="zh-CN" b="0" i="0" dirty="0">
              <a:effectLst/>
              <a:latin typeface="PingFang SC"/>
            </a:endParaRPr>
          </a:p>
          <a:p>
            <a:pPr marL="742950" lvl="1" indent="-285750"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​应用创新​</a:t>
            </a:r>
            <a:r>
              <a:rPr lang="zh-CN" altLang="en-US" b="0" i="0" dirty="0">
                <a:effectLst/>
                <a:latin typeface="PingFang SC"/>
              </a:rPr>
              <a:t>​：医疗行业解决方案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7654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44D30-B6A0-99B2-CC01-46EAC16D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PingFang SC"/>
              </a:rPr>
              <a:t>技术栈选择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61C28A-1A72-85FC-BA28-73783260F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 fontAlgn="base"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i="0" dirty="0">
                <a:effectLst/>
                <a:latin typeface="inherit"/>
              </a:rPr>
              <a:t>基础框架​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Spring Boot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微服务开发）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MyBatis/JPA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数据持久化）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​分布式技术​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Zookeeper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配置同步）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ElasticSearch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日志检索）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JimDB/Redis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缓存）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​特色组件​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Google Aviator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脚本引擎）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JSF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fr-FR" altLang="zh-CN" b="0" i="0" dirty="0">
                <a:effectLst/>
                <a:latin typeface="PingFang SC"/>
              </a:rPr>
              <a:t>RPC</a:t>
            </a:r>
            <a:r>
              <a:rPr lang="zh-CN" altLang="en-US" b="0" i="0" dirty="0">
                <a:effectLst/>
                <a:latin typeface="PingFang SC"/>
              </a:rPr>
              <a:t>通信）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DUCC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配置中心）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​辅助工具​</a:t>
            </a:r>
            <a:r>
              <a:rPr lang="zh-CN" altLang="en-US" b="0" i="0" dirty="0">
                <a:effectLst/>
                <a:latin typeface="inherit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JMeter</a:t>
            </a:r>
            <a:r>
              <a:rPr lang="zh-CN" altLang="fr-FR" b="0" i="0" dirty="0">
                <a:effectLst/>
                <a:latin typeface="PingFang SC"/>
              </a:rPr>
              <a:t>（</a:t>
            </a:r>
            <a:r>
              <a:rPr lang="zh-CN" altLang="en-US" b="0" i="0" dirty="0">
                <a:effectLst/>
                <a:latin typeface="PingFang SC"/>
              </a:rPr>
              <a:t>压力测试）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UML</a:t>
            </a:r>
            <a:r>
              <a:rPr lang="zh-CN" altLang="en-US" b="0" i="0" dirty="0">
                <a:effectLst/>
                <a:latin typeface="PingFang SC"/>
              </a:rPr>
              <a:t>工具（需求建模）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fr-FR" altLang="zh-CN" b="0" i="0" dirty="0">
                <a:effectLst/>
                <a:latin typeface="PingFang SC"/>
              </a:rPr>
              <a:t>CI/CD</a:t>
            </a:r>
            <a:r>
              <a:rPr lang="zh-CN" altLang="en-US" b="0" i="0" dirty="0">
                <a:effectLst/>
                <a:latin typeface="PingFang SC"/>
              </a:rPr>
              <a:t>工具（自动化部署）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316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9CACB-08AE-AC41-EE33-ADCD16B6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PingFang SC"/>
              </a:rPr>
              <a:t>篇幅控制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6CDE-A8E0-A6A8-68F3-A225E3A12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​总页数​</a:t>
            </a:r>
            <a:r>
              <a:rPr lang="zh-CN" altLang="en-US" b="0" i="0" dirty="0">
                <a:effectLst/>
                <a:latin typeface="PingFang SC"/>
              </a:rPr>
              <a:t>​：</a:t>
            </a:r>
            <a:r>
              <a:rPr lang="en-US" altLang="zh-CN" b="0" i="0" dirty="0">
                <a:effectLst/>
                <a:latin typeface="PingFang SC"/>
              </a:rPr>
              <a:t>80-120</a:t>
            </a:r>
            <a:r>
              <a:rPr lang="zh-CN" altLang="en-US" b="0" i="0" dirty="0">
                <a:effectLst/>
                <a:latin typeface="PingFang SC"/>
              </a:rPr>
              <a:t>页（正文</a:t>
            </a:r>
            <a:r>
              <a:rPr lang="en-US" altLang="zh-CN" b="0" i="0" dirty="0">
                <a:effectLst/>
                <a:latin typeface="PingFang SC"/>
              </a:rPr>
              <a:t>60-80</a:t>
            </a:r>
            <a:r>
              <a:rPr lang="zh-CN" altLang="en-US" b="0" i="0" dirty="0">
                <a:effectLst/>
                <a:latin typeface="PingFang SC"/>
              </a:rPr>
              <a:t>页）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​配比​</a:t>
            </a:r>
            <a:r>
              <a:rPr lang="zh-CN" altLang="en-US" b="0" i="0" dirty="0">
                <a:effectLst/>
                <a:latin typeface="PingFang SC"/>
              </a:rPr>
              <a:t>​：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理论分析（</a:t>
            </a:r>
            <a:r>
              <a:rPr lang="en-US" altLang="zh-CN" b="0" i="0" dirty="0">
                <a:effectLst/>
                <a:latin typeface="PingFang SC"/>
              </a:rPr>
              <a:t>20%</a:t>
            </a:r>
            <a:r>
              <a:rPr lang="zh-CN" altLang="en-US" b="0" i="0" dirty="0">
                <a:effectLst/>
                <a:latin typeface="PingFang SC"/>
              </a:rPr>
              <a:t>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系统设计（</a:t>
            </a:r>
            <a:r>
              <a:rPr lang="en-US" altLang="zh-CN" b="0" i="0" dirty="0">
                <a:effectLst/>
                <a:latin typeface="PingFang SC"/>
              </a:rPr>
              <a:t>30%</a:t>
            </a:r>
            <a:r>
              <a:rPr lang="zh-CN" altLang="en-US" b="0" i="0" dirty="0">
                <a:effectLst/>
                <a:latin typeface="PingFang SC"/>
              </a:rPr>
              <a:t>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实现验证（</a:t>
            </a:r>
            <a:r>
              <a:rPr lang="en-US" altLang="zh-CN" b="0" i="0" dirty="0">
                <a:effectLst/>
                <a:latin typeface="PingFang SC"/>
              </a:rPr>
              <a:t>40%</a:t>
            </a:r>
            <a:r>
              <a:rPr lang="zh-CN" altLang="en-US" b="0" i="0" dirty="0">
                <a:effectLst/>
                <a:latin typeface="PingFang SC"/>
              </a:rPr>
              <a:t>）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PingFang SC"/>
              </a:rPr>
              <a:t>总结展望（</a:t>
            </a:r>
            <a:r>
              <a:rPr lang="en-US" altLang="zh-CN" b="0" i="0" dirty="0">
                <a:effectLst/>
                <a:latin typeface="PingFang SC"/>
              </a:rPr>
              <a:t>10%</a:t>
            </a:r>
            <a:r>
              <a:rPr lang="zh-CN" altLang="en-US" b="0" i="0" dirty="0">
                <a:effectLst/>
                <a:latin typeface="PingFang SC"/>
              </a:rPr>
              <a:t>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7639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499</Words>
  <Application>Microsoft Office PowerPoint</Application>
  <PresentationFormat>宽屏</PresentationFormat>
  <Paragraphs>64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inherit</vt:lpstr>
      <vt:lpstr>PingFang SC</vt:lpstr>
      <vt:lpstr>等线</vt:lpstr>
      <vt:lpstr>等线 Light</vt:lpstr>
      <vt:lpstr>微软雅黑</vt:lpstr>
      <vt:lpstr>Arial</vt:lpstr>
      <vt:lpstr>Office 主题​​</vt:lpstr>
      <vt:lpstr>毕业论文调研</vt:lpstr>
      <vt:lpstr>毕业要求</vt:lpstr>
      <vt:lpstr>论文格式与结构</vt:lpstr>
      <vt:lpstr>需要完成的核心事项</vt:lpstr>
      <vt:lpstr>创新点设计</vt:lpstr>
      <vt:lpstr>技术栈选择</vt:lpstr>
      <vt:lpstr>篇幅控制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可鉴 赵</dc:creator>
  <cp:lastModifiedBy>可鉴 赵</cp:lastModifiedBy>
  <cp:revision>1</cp:revision>
  <dcterms:created xsi:type="dcterms:W3CDTF">2025-04-29T06:13:59Z</dcterms:created>
  <dcterms:modified xsi:type="dcterms:W3CDTF">2025-04-29T06:24:43Z</dcterms:modified>
</cp:coreProperties>
</file>